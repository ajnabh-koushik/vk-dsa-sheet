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E1E3D9-537B-4E5C-A406-AF81E89B5B73}" v="2" dt="2026-07-11T16:18:01.8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811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NABH KOUSHIK" userId="5c9881ccf68ff06d" providerId="LiveId" clId="{E56EB2F8-4EA8-42F2-AD92-731CB4A97905}"/>
    <pc:docChg chg="modSld">
      <pc:chgData name="AJNABH KOUSHIK" userId="5c9881ccf68ff06d" providerId="LiveId" clId="{E56EB2F8-4EA8-42F2-AD92-731CB4A97905}" dt="2026-07-11T16:18:24.896" v="64" actId="207"/>
      <pc:docMkLst>
        <pc:docMk/>
      </pc:docMkLst>
      <pc:sldChg chg="modSp mod">
        <pc:chgData name="AJNABH KOUSHIK" userId="5c9881ccf68ff06d" providerId="LiveId" clId="{E56EB2F8-4EA8-42F2-AD92-731CB4A97905}" dt="2026-07-11T16:18:24.896" v="64" actId="207"/>
        <pc:sldMkLst>
          <pc:docMk/>
          <pc:sldMk cId="0" sldId="256"/>
        </pc:sldMkLst>
        <pc:spChg chg="mod">
          <ac:chgData name="AJNABH KOUSHIK" userId="5c9881ccf68ff06d" providerId="LiveId" clId="{E56EB2F8-4EA8-42F2-AD92-731CB4A97905}" dt="2026-07-11T16:17:11.628" v="31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AJNABH KOUSHIK" userId="5c9881ccf68ff06d" providerId="LiveId" clId="{E56EB2F8-4EA8-42F2-AD92-731CB4A97905}" dt="2026-07-11T16:18:24.896" v="64" actId="207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AJNABH KOUSHIK" userId="5c9881ccf68ff06d" providerId="LiveId" clId="{E56EB2F8-4EA8-42F2-AD92-731CB4A97905}" dt="2026-07-11T16:18:15.201" v="63" actId="207"/>
        <pc:sldMkLst>
          <pc:docMk/>
          <pc:sldMk cId="0" sldId="266"/>
        </pc:sldMkLst>
        <pc:spChg chg="mod">
          <ac:chgData name="AJNABH KOUSHIK" userId="5c9881ccf68ff06d" providerId="LiveId" clId="{E56EB2F8-4EA8-42F2-AD92-731CB4A97905}" dt="2026-07-11T16:17:50.851" v="32" actId="20577"/>
          <ac:spMkLst>
            <pc:docMk/>
            <pc:sldMk cId="0" sldId="266"/>
            <ac:spMk id="7" creationId="{00000000-0000-0000-0000-000000000000}"/>
          </ac:spMkLst>
        </pc:spChg>
        <pc:spChg chg="mod">
          <ac:chgData name="AJNABH KOUSHIK" userId="5c9881ccf68ff06d" providerId="LiveId" clId="{E56EB2F8-4EA8-42F2-AD92-731CB4A97905}" dt="2026-07-11T16:18:15.201" v="63" actId="207"/>
          <ac:spMkLst>
            <pc:docMk/>
            <pc:sldMk cId="0" sldId="266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753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A78BFA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65760"/>
            <a:ext cx="3291840" cy="329184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846320"/>
            <a:ext cx="5120640" cy="512064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6035040"/>
            <a:ext cx="2743200" cy="2743200"/>
          </a:xfrm>
          <a:prstGeom prst="ellipse">
            <a:avLst/>
          </a:prstGeom>
          <a:solidFill>
            <a:srgbClr val="EC4899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594360"/>
            <a:ext cx="1005840" cy="10058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7C3AED"/>
            </a:solidFill>
            <a:prstDash val="solid"/>
          </a:ln>
          <a:effectLst>
            <a:outerShdw blurRad="127000" dist="25400" dir="5400000" algn="bl" rotWithShape="0">
              <a:srgbClr val="C9B8F5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5943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 DSA SHEET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10607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Master Patterns.
</a:t>
            </a:r>
            <a:r>
              <a:rPr lang="en-US" sz="4600" b="1" dirty="0">
                <a:solidFill>
                  <a:srgbClr val="7C3AE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Problems. Level Up.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594360" y="44805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free, open-source DSA practice sheet that unifies LeetCode, GeeksforGeeks, TakeUForward and Codeforces — organized by pattern, with built-in progress tracking and a personal knowledge base.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5532120"/>
            <a:ext cx="2880360" cy="502920"/>
          </a:xfrm>
          <a:prstGeom prst="roundRect">
            <a:avLst>
              <a:gd name="adj" fmla="val 50909"/>
            </a:avLst>
          </a:prstGeom>
          <a:solidFill>
            <a:srgbClr val="7C3AED"/>
          </a:solidFill>
          <a:ln/>
          <a:effectLst>
            <a:outerShdw blurRad="101600" dist="25400" dir="5400000" algn="bl" rotWithShape="0">
              <a:srgbClr val="C9B8F5">
                <a:alpha val="5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594360" y="55321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50" dirty="0">
                <a:solidFill>
                  <a:schemeClr val="bg1">
                    <a:lumMod val="95000"/>
                  </a:schemeClr>
                </a:solidFill>
              </a:rPr>
              <a:t>https://vk-dsa-sheet-aw7j.vercel.app/</a:t>
            </a:r>
          </a:p>
        </p:txBody>
      </p:sp>
      <p:sp>
        <p:nvSpPr>
          <p:cNvPr id="13" name="Text 11"/>
          <p:cNvSpPr/>
          <p:nvPr/>
        </p:nvSpPr>
        <p:spPr>
          <a:xfrm>
            <a:off x="3749040" y="5532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+  Firebase  +  Vercel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6263640"/>
            <a:ext cx="10972800" cy="0"/>
          </a:xfrm>
          <a:prstGeom prst="line">
            <a:avLst/>
          </a:prstGeom>
          <a:noFill/>
          <a:ln w="12700">
            <a:solidFill>
              <a:srgbClr val="E7E3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6400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Ajnabh Koushik Baruah</a:t>
            </a:r>
            <a:r>
              <a:rPr lang="en-US" sz="11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✉  ajnabhb.ug24.cs@nitp.ac.in     ⌘  github.com/AJNABH-KOUSHIK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377440"/>
            <a:ext cx="5852160" cy="5852160"/>
          </a:xfrm>
          <a:prstGeom prst="ellipse">
            <a:avLst/>
          </a:prstGeom>
          <a:solidFill>
            <a:srgbClr val="06B6D4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EC489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4206240"/>
            <a:ext cx="5486400" cy="5486400"/>
          </a:xfrm>
          <a:prstGeom prst="ellipse">
            <a:avLst/>
          </a:prstGeom>
          <a:solidFill>
            <a:srgbClr val="A78BFA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5120640"/>
            <a:ext cx="2743200" cy="274320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platform promotes its own sheet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bounce between four or five sites with no single place to track progress — and none of them think in patterns.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1064240" cy="932688"/>
          </a:xfrm>
          <a:prstGeom prst="roundRect">
            <a:avLst>
              <a:gd name="adj" fmla="val 8824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42316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2103120"/>
            <a:ext cx="2286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LeetCode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9040" y="2103120"/>
            <a:ext cx="3566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  </a:t>
            </a:r>
            <a:r>
              <a:rPr lang="en-US" sz="12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question bank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52360" y="2103120"/>
            <a:ext cx="39319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  </a:t>
            </a:r>
            <a:r>
              <a:rPr lang="en-US" sz="12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pattern roadmap, no cross-platform tracking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11064240" cy="932688"/>
          </a:xfrm>
          <a:prstGeom prst="roundRect">
            <a:avLst>
              <a:gd name="adj" fmla="val 8824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48386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3163824"/>
            <a:ext cx="2286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TakeUForward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49040" y="3163824"/>
            <a:ext cx="3566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  </a:t>
            </a:r>
            <a:r>
              <a:rPr lang="en-US" sz="12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Striver's SDE Sheet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52360" y="3163824"/>
            <a:ext cx="39319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  </a:t>
            </a:r>
            <a:r>
              <a:rPr lang="en-US" sz="12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their own curated list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224528"/>
            <a:ext cx="11064240" cy="932688"/>
          </a:xfrm>
          <a:prstGeom prst="roundRect">
            <a:avLst>
              <a:gd name="adj" fmla="val 8824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54456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4224528"/>
            <a:ext cx="2286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GeeksforGeeks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49040" y="4224528"/>
            <a:ext cx="3566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  </a:t>
            </a:r>
            <a:r>
              <a:rPr lang="en-US" sz="12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Topic-wise problems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52360" y="4224528"/>
            <a:ext cx="39319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  </a:t>
            </a:r>
            <a:r>
              <a:rPr lang="en-US" sz="12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progress tracking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285232"/>
            <a:ext cx="11064240" cy="932688"/>
          </a:xfrm>
          <a:prstGeom prst="roundRect">
            <a:avLst>
              <a:gd name="adj" fmla="val 8824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60527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1234440" y="5285232"/>
            <a:ext cx="2286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Codeforces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49040" y="5285232"/>
            <a:ext cx="3566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  </a:t>
            </a:r>
            <a:r>
              <a:rPr lang="en-US" sz="12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problems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52360" y="5285232"/>
            <a:ext cx="39319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  </a:t>
            </a:r>
            <a:r>
              <a:rPr lang="en-US" sz="12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DSA sheet at all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 DSA SHEET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4572000"/>
            <a:ext cx="5303520" cy="5303520"/>
          </a:xfrm>
          <a:prstGeom prst="ellipse">
            <a:avLst/>
          </a:prstGeom>
          <a:solidFill>
            <a:srgbClr val="A78BFA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754880"/>
            <a:ext cx="5120640" cy="5120640"/>
          </a:xfrm>
          <a:prstGeom prst="ellipse">
            <a:avLst/>
          </a:prstGeom>
          <a:solidFill>
            <a:srgbClr val="06B6D4">
              <a:alpha val="1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754880" y="-2926080"/>
            <a:ext cx="4572000" cy="45720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place for everything a</a:t>
            </a:r>
            <a:endParaRPr lang="en-US" sz="3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DSA journey actually needs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website combined LeetCode, GFG, TUF and Codeforces with pattern names and a real progress tracker. So this was built.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074920" cy="566928"/>
          </a:xfrm>
          <a:prstGeom prst="roundRect">
            <a:avLst>
              <a:gd name="adj" fmla="val 16129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3483864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291840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patterns, not just topics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89320" y="3291840"/>
            <a:ext cx="5074920" cy="566928"/>
          </a:xfrm>
          <a:prstGeom prst="roundRect">
            <a:avLst>
              <a:gd name="adj" fmla="val 16129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53912" y="3483864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3291840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from every major platform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5074920" cy="566928"/>
          </a:xfrm>
          <a:prstGeom prst="roundRect">
            <a:avLst>
              <a:gd name="adj" fmla="val 16129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4197096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005072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Completed vs Revise tracking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89320" y="4005072"/>
            <a:ext cx="5074920" cy="566928"/>
          </a:xfrm>
          <a:prstGeom prst="roundRect">
            <a:avLst>
              <a:gd name="adj" fmla="val 16129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53912" y="4197096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4005072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bookshelf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718304"/>
            <a:ext cx="5074920" cy="566928"/>
          </a:xfrm>
          <a:prstGeom prst="roundRect">
            <a:avLst>
              <a:gd name="adj" fmla="val 16129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910328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718304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links &amp; editorials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89320" y="4718304"/>
            <a:ext cx="5074920" cy="566928"/>
          </a:xfrm>
          <a:prstGeom prst="roundRect">
            <a:avLst>
              <a:gd name="adj" fmla="val 16129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53912" y="4910328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4718304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notes per topic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431536"/>
            <a:ext cx="5074920" cy="566928"/>
          </a:xfrm>
          <a:prstGeom prst="roundRect">
            <a:avLst>
              <a:gd name="adj" fmla="val 16129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562356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5431536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calendar of practice history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989320" y="5431536"/>
            <a:ext cx="5074920" cy="566928"/>
          </a:xfrm>
          <a:prstGeom prst="roundRect">
            <a:avLst>
              <a:gd name="adj" fmla="val 16129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53912" y="562356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5431536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/ Medium / Hard breakdown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 DSA SHEET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2377440"/>
            <a:ext cx="5120640" cy="512064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-2011680"/>
            <a:ext cx="4572000" cy="4572000"/>
          </a:xfrm>
          <a:prstGeom prst="ellipse">
            <a:avLst/>
          </a:prstGeom>
          <a:solidFill>
            <a:srgbClr val="A78BF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5120640"/>
            <a:ext cx="4206240" cy="420624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0" y="4937760"/>
            <a:ext cx="3840480" cy="3840480"/>
          </a:xfrm>
          <a:prstGeom prst="ellipse">
            <a:avLst/>
          </a:prstGeom>
          <a:solidFill>
            <a:srgbClr val="EC4899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DSA SHEET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 pattern categories, not just topics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pattern breaks down further into sub-patterns — e.g. Arrays → Traversal, Rotation, Kadane's Algorithm — with problems pulled from every platform.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2615184" cy="932688"/>
          </a:xfrm>
          <a:prstGeom prst="roundRect">
            <a:avLst>
              <a:gd name="adj" fmla="val 7843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16712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21305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386584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300984" y="2057400"/>
            <a:ext cx="2615184" cy="932688"/>
          </a:xfrm>
          <a:prstGeom prst="roundRect">
            <a:avLst>
              <a:gd name="adj" fmla="val 7843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38144" y="2167128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5266944" y="21305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38144" y="2386584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053328" y="2057400"/>
            <a:ext cx="2615184" cy="932688"/>
          </a:xfrm>
          <a:prstGeom prst="roundRect">
            <a:avLst>
              <a:gd name="adj" fmla="val 7843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0488" y="216712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9" name="Text 17"/>
          <p:cNvSpPr/>
          <p:nvPr/>
        </p:nvSpPr>
        <p:spPr>
          <a:xfrm>
            <a:off x="8019288" y="21305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90488" y="2386584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805672" y="2057400"/>
            <a:ext cx="2615184" cy="932688"/>
          </a:xfrm>
          <a:prstGeom prst="roundRect">
            <a:avLst>
              <a:gd name="adj" fmla="val 7843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42832" y="21671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0771632" y="21305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42832" y="2386584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Manipulation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3127248"/>
            <a:ext cx="2615184" cy="932688"/>
          </a:xfrm>
          <a:prstGeom prst="roundRect">
            <a:avLst>
              <a:gd name="adj" fmla="val 7843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" y="323697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2514600" y="3200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3456432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3300984" y="3127248"/>
            <a:ext cx="2615184" cy="932688"/>
          </a:xfrm>
          <a:prstGeom prst="roundRect">
            <a:avLst>
              <a:gd name="adj" fmla="val 7843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38144" y="3236976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5266944" y="3200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38144" y="3456432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Pointers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053328" y="3127248"/>
            <a:ext cx="2615184" cy="932688"/>
          </a:xfrm>
          <a:prstGeom prst="roundRect">
            <a:avLst>
              <a:gd name="adj" fmla="val 7843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90488" y="3236976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8019288" y="3200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90488" y="3456432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8805672" y="3127248"/>
            <a:ext cx="2615184" cy="932688"/>
          </a:xfrm>
          <a:prstGeom prst="roundRect">
            <a:avLst>
              <a:gd name="adj" fmla="val 7843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942832" y="3236976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9" name="Text 37"/>
          <p:cNvSpPr/>
          <p:nvPr/>
        </p:nvSpPr>
        <p:spPr>
          <a:xfrm>
            <a:off x="10771632" y="3200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942832" y="3456432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&amp; Queues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48640" y="4197096"/>
            <a:ext cx="2615184" cy="932688"/>
          </a:xfrm>
          <a:prstGeom prst="roundRect">
            <a:avLst>
              <a:gd name="adj" fmla="val 7843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5800" y="430682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2514600" y="42702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" y="452628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Algorithms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3300984" y="4197096"/>
            <a:ext cx="2615184" cy="932688"/>
          </a:xfrm>
          <a:prstGeom prst="roundRect">
            <a:avLst>
              <a:gd name="adj" fmla="val 7843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438144" y="4306824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5266944" y="42702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438144" y="452628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Heaps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6053328" y="4197096"/>
            <a:ext cx="2615184" cy="932688"/>
          </a:xfrm>
          <a:prstGeom prst="roundRect">
            <a:avLst>
              <a:gd name="adj" fmla="val 7843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90488" y="4306824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1" name="Text 49"/>
          <p:cNvSpPr/>
          <p:nvPr/>
        </p:nvSpPr>
        <p:spPr>
          <a:xfrm>
            <a:off x="8019288" y="42702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190488" y="452628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Trees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8805672" y="4197096"/>
            <a:ext cx="2615184" cy="932688"/>
          </a:xfrm>
          <a:prstGeom prst="roundRect">
            <a:avLst>
              <a:gd name="adj" fmla="val 7843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942832" y="4306824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5" name="Text 53"/>
          <p:cNvSpPr/>
          <p:nvPr/>
        </p:nvSpPr>
        <p:spPr>
          <a:xfrm>
            <a:off x="10771632" y="42702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942832" y="452628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548640" y="5266944"/>
            <a:ext cx="2615184" cy="932688"/>
          </a:xfrm>
          <a:prstGeom prst="roundRect">
            <a:avLst>
              <a:gd name="adj" fmla="val 7843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85800" y="5376672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59" name="Text 57"/>
          <p:cNvSpPr/>
          <p:nvPr/>
        </p:nvSpPr>
        <p:spPr>
          <a:xfrm>
            <a:off x="2514600" y="534009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85800" y="5596128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3300984" y="5266944"/>
            <a:ext cx="2615184" cy="932688"/>
          </a:xfrm>
          <a:prstGeom prst="roundRect">
            <a:avLst>
              <a:gd name="adj" fmla="val 7843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438144" y="537667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5266944" y="534009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438144" y="5596128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</a:t>
            </a:r>
            <a:endParaRPr lang="en-US" sz="1350" dirty="0"/>
          </a:p>
        </p:txBody>
      </p:sp>
      <p:sp>
        <p:nvSpPr>
          <p:cNvPr id="65" name="Shape 63"/>
          <p:cNvSpPr/>
          <p:nvPr/>
        </p:nvSpPr>
        <p:spPr>
          <a:xfrm>
            <a:off x="6053328" y="5266944"/>
            <a:ext cx="2615184" cy="932688"/>
          </a:xfrm>
          <a:prstGeom prst="roundRect">
            <a:avLst>
              <a:gd name="adj" fmla="val 7843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190488" y="5376672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7" name="Text 65"/>
          <p:cNvSpPr/>
          <p:nvPr/>
        </p:nvSpPr>
        <p:spPr>
          <a:xfrm>
            <a:off x="8019288" y="534009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190488" y="5596128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350" dirty="0"/>
          </a:p>
        </p:txBody>
      </p:sp>
      <p:sp>
        <p:nvSpPr>
          <p:cNvPr id="69" name="Shape 67"/>
          <p:cNvSpPr/>
          <p:nvPr/>
        </p:nvSpPr>
        <p:spPr>
          <a:xfrm>
            <a:off x="8805672" y="5266944"/>
            <a:ext cx="2615184" cy="932688"/>
          </a:xfrm>
          <a:prstGeom prst="roundRect">
            <a:avLst>
              <a:gd name="adj" fmla="val 7843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8805672" y="5266944"/>
            <a:ext cx="2615184" cy="932688"/>
          </a:xfrm>
          <a:prstGeom prst="roundRect">
            <a:avLst>
              <a:gd name="adj" fmla="val 7843"/>
            </a:avLst>
          </a:prstGeom>
          <a:solidFill>
            <a:srgbClr val="F1ED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942832" y="5376672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2" name="Text 70"/>
          <p:cNvSpPr/>
          <p:nvPr/>
        </p:nvSpPr>
        <p:spPr>
          <a:xfrm>
            <a:off x="10771632" y="534009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942832" y="5596128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More Added Regularly</a:t>
            </a:r>
            <a:endParaRPr lang="en-US" sz="1350" dirty="0"/>
          </a:p>
        </p:txBody>
      </p:sp>
      <p:sp>
        <p:nvSpPr>
          <p:cNvPr id="74" name="Text 7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 DSA SHEET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A78BFA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65760"/>
            <a:ext cx="3291840" cy="329184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846320"/>
            <a:ext cx="5120640" cy="512064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6035040"/>
            <a:ext cx="2743200" cy="2743200"/>
          </a:xfrm>
          <a:prstGeom prst="ellipse">
            <a:avLst/>
          </a:prstGeom>
          <a:solidFill>
            <a:srgbClr val="EC4899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Know exactly where you stand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2615184" cy="2468880"/>
          </a:xfrm>
          <a:prstGeom prst="roundRect">
            <a:avLst>
              <a:gd name="adj" fmla="val 3704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1856232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0" name="Image 0" descr="/home/claude/vkdsa/icon-check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06" y="2010766"/>
            <a:ext cx="285293" cy="28529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4672" y="2606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Completion Tick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04672" y="3081528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any question done the moment you solve it.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300984" y="1600200"/>
            <a:ext cx="2615184" cy="2468880"/>
          </a:xfrm>
          <a:prstGeom prst="roundRect">
            <a:avLst>
              <a:gd name="adj" fmla="val 3704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57016" y="1856232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5" name="Image 1" descr="/home/claude/vkdsa/icon-tre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1550" y="2010766"/>
            <a:ext cx="285293" cy="28529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57016" y="2606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Revision Tick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3557016" y="3081528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flag for problems that need a second pass.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053328" y="1600200"/>
            <a:ext cx="2615184" cy="2468880"/>
          </a:xfrm>
          <a:prstGeom prst="roundRect">
            <a:avLst>
              <a:gd name="adj" fmla="val 3704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09360" y="1856232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0" name="Image 2" descr="/home/claude/vkdsa/icon-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3894" y="2010766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2606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Difficulty Counter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6309360" y="3081528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Easy / Medium / Hard split across the whole sheet.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805672" y="1600200"/>
            <a:ext cx="2615184" cy="2468880"/>
          </a:xfrm>
          <a:prstGeom prst="roundRect">
            <a:avLst>
              <a:gd name="adj" fmla="val 3704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061704" y="1856232"/>
            <a:ext cx="594360" cy="59436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25" name="Image 3" descr="/home/claude/vkdsa/icon-aw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6238" y="2010766"/>
            <a:ext cx="285293" cy="28529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61704" y="2606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Beats Percentage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9061704" y="3081528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your pace compares to other solvers.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22960" y="43891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Traversal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3291840" y="4754880"/>
            <a:ext cx="5943600" cy="182880"/>
          </a:xfrm>
          <a:prstGeom prst="roundRect">
            <a:avLst>
              <a:gd name="adj" fmla="val 50000"/>
            </a:avLst>
          </a:prstGeom>
          <a:solidFill>
            <a:srgbClr val="EDE9FA"/>
          </a:solidFill>
          <a:ln/>
        </p:spPr>
      </p:sp>
      <p:sp>
        <p:nvSpPr>
          <p:cNvPr id="31" name="Shape 25"/>
          <p:cNvSpPr/>
          <p:nvPr/>
        </p:nvSpPr>
        <p:spPr>
          <a:xfrm>
            <a:off x="3291840" y="4754880"/>
            <a:ext cx="1857375" cy="1828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32" name="Text 26"/>
          <p:cNvSpPr/>
          <p:nvPr/>
        </p:nvSpPr>
        <p:spPr>
          <a:xfrm>
            <a:off x="9464040" y="43891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 solved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 DSA SHEET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377440"/>
            <a:ext cx="5852160" cy="5852160"/>
          </a:xfrm>
          <a:prstGeom prst="ellipse">
            <a:avLst/>
          </a:prstGeom>
          <a:solidFill>
            <a:srgbClr val="06B6D4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EC489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4206240"/>
            <a:ext cx="5486400" cy="5486400"/>
          </a:xfrm>
          <a:prstGeom prst="ellipse">
            <a:avLst/>
          </a:prstGeom>
          <a:solidFill>
            <a:srgbClr val="A78BFA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5120640"/>
            <a:ext cx="2743200" cy="274320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SHEET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calendar and a personal knowledge vault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0" name="Image 0" descr="/home/claude/vkdsa/icon-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2005279"/>
            <a:ext cx="241402" cy="24140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8745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Practice Calendar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22960" y="2560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GitHub-style streak tracking with a full monthly view and a detailed daily practice history.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338328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499616" y="338328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176272" y="338328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852928" y="338328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529584" y="338328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206240" y="338328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82896" y="338328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176272" y="3703320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21" name="Text 18"/>
          <p:cNvSpPr/>
          <p:nvPr/>
        </p:nvSpPr>
        <p:spPr>
          <a:xfrm>
            <a:off x="2176272" y="3703320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852928" y="3703320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23" name="Text 20"/>
          <p:cNvSpPr/>
          <p:nvPr/>
        </p:nvSpPr>
        <p:spPr>
          <a:xfrm>
            <a:off x="2852928" y="3703320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529584" y="3703320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25" name="Text 22"/>
          <p:cNvSpPr/>
          <p:nvPr/>
        </p:nvSpPr>
        <p:spPr>
          <a:xfrm>
            <a:off x="3529584" y="3703320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206240" y="3703320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27" name="Text 24"/>
          <p:cNvSpPr/>
          <p:nvPr/>
        </p:nvSpPr>
        <p:spPr>
          <a:xfrm>
            <a:off x="4206240" y="3703320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882896" y="3703320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29" name="Text 26"/>
          <p:cNvSpPr/>
          <p:nvPr/>
        </p:nvSpPr>
        <p:spPr>
          <a:xfrm>
            <a:off x="4882896" y="3703320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822960" y="4088831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31" name="Text 28"/>
          <p:cNvSpPr/>
          <p:nvPr/>
        </p:nvSpPr>
        <p:spPr>
          <a:xfrm>
            <a:off x="822960" y="4088831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1499616" y="4088831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33" name="Text 30"/>
          <p:cNvSpPr/>
          <p:nvPr/>
        </p:nvSpPr>
        <p:spPr>
          <a:xfrm>
            <a:off x="1499616" y="4088831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176272" y="4088831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35" name="Text 32"/>
          <p:cNvSpPr/>
          <p:nvPr/>
        </p:nvSpPr>
        <p:spPr>
          <a:xfrm>
            <a:off x="2176272" y="4088831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2852928" y="4088831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7C3AED"/>
          </a:solidFill>
          <a:ln/>
        </p:spPr>
      </p:sp>
      <p:sp>
        <p:nvSpPr>
          <p:cNvPr id="37" name="Text 34"/>
          <p:cNvSpPr/>
          <p:nvPr/>
        </p:nvSpPr>
        <p:spPr>
          <a:xfrm>
            <a:off x="2852928" y="4088831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3529584" y="4088831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7C3AED"/>
          </a:solidFill>
          <a:ln/>
        </p:spPr>
      </p:sp>
      <p:sp>
        <p:nvSpPr>
          <p:cNvPr id="39" name="Text 36"/>
          <p:cNvSpPr/>
          <p:nvPr/>
        </p:nvSpPr>
        <p:spPr>
          <a:xfrm>
            <a:off x="3529584" y="4088831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206240" y="4088831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7C3AED"/>
          </a:solidFill>
          <a:ln/>
        </p:spPr>
      </p:sp>
      <p:sp>
        <p:nvSpPr>
          <p:cNvPr id="41" name="Text 38"/>
          <p:cNvSpPr/>
          <p:nvPr/>
        </p:nvSpPr>
        <p:spPr>
          <a:xfrm>
            <a:off x="4206240" y="4088831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882896" y="4088831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43" name="Text 40"/>
          <p:cNvSpPr/>
          <p:nvPr/>
        </p:nvSpPr>
        <p:spPr>
          <a:xfrm>
            <a:off x="4882896" y="4088831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822960" y="4474342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45" name="Text 42"/>
          <p:cNvSpPr/>
          <p:nvPr/>
        </p:nvSpPr>
        <p:spPr>
          <a:xfrm>
            <a:off x="822960" y="4474342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1499616" y="4474342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47" name="Text 44"/>
          <p:cNvSpPr/>
          <p:nvPr/>
        </p:nvSpPr>
        <p:spPr>
          <a:xfrm>
            <a:off x="1499616" y="4474342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2176272" y="4474342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49" name="Text 46"/>
          <p:cNvSpPr/>
          <p:nvPr/>
        </p:nvSpPr>
        <p:spPr>
          <a:xfrm>
            <a:off x="2176272" y="4474342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2852928" y="4474342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51" name="Text 48"/>
          <p:cNvSpPr/>
          <p:nvPr/>
        </p:nvSpPr>
        <p:spPr>
          <a:xfrm>
            <a:off x="2852928" y="4474342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3529584" y="4474342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53" name="Text 50"/>
          <p:cNvSpPr/>
          <p:nvPr/>
        </p:nvSpPr>
        <p:spPr>
          <a:xfrm>
            <a:off x="3529584" y="4474342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4206240" y="4474342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55" name="Text 52"/>
          <p:cNvSpPr/>
          <p:nvPr/>
        </p:nvSpPr>
        <p:spPr>
          <a:xfrm>
            <a:off x="4206240" y="4474342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4882896" y="4474342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57" name="Text 54"/>
          <p:cNvSpPr/>
          <p:nvPr/>
        </p:nvSpPr>
        <p:spPr>
          <a:xfrm>
            <a:off x="4882896" y="4474342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822960" y="4859853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59" name="Text 56"/>
          <p:cNvSpPr/>
          <p:nvPr/>
        </p:nvSpPr>
        <p:spPr>
          <a:xfrm>
            <a:off x="822960" y="4859853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1499616" y="4859853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61" name="Text 58"/>
          <p:cNvSpPr/>
          <p:nvPr/>
        </p:nvSpPr>
        <p:spPr>
          <a:xfrm>
            <a:off x="1499616" y="4859853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2176272" y="4859853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63" name="Text 60"/>
          <p:cNvSpPr/>
          <p:nvPr/>
        </p:nvSpPr>
        <p:spPr>
          <a:xfrm>
            <a:off x="2176272" y="4859853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2852928" y="4859853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65" name="Text 62"/>
          <p:cNvSpPr/>
          <p:nvPr/>
        </p:nvSpPr>
        <p:spPr>
          <a:xfrm>
            <a:off x="2852928" y="4859853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3529584" y="4859853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67" name="Text 64"/>
          <p:cNvSpPr/>
          <p:nvPr/>
        </p:nvSpPr>
        <p:spPr>
          <a:xfrm>
            <a:off x="3529584" y="4859853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4206240" y="4859853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69" name="Text 66"/>
          <p:cNvSpPr/>
          <p:nvPr/>
        </p:nvSpPr>
        <p:spPr>
          <a:xfrm>
            <a:off x="4206240" y="4859853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70" name="Shape 67"/>
          <p:cNvSpPr/>
          <p:nvPr/>
        </p:nvSpPr>
        <p:spPr>
          <a:xfrm>
            <a:off x="4882896" y="4859853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71" name="Text 68"/>
          <p:cNvSpPr/>
          <p:nvPr/>
        </p:nvSpPr>
        <p:spPr>
          <a:xfrm>
            <a:off x="4882896" y="4859853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  <p:sp>
        <p:nvSpPr>
          <p:cNvPr id="72" name="Shape 69"/>
          <p:cNvSpPr/>
          <p:nvPr/>
        </p:nvSpPr>
        <p:spPr>
          <a:xfrm>
            <a:off x="822960" y="5245364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73" name="Text 70"/>
          <p:cNvSpPr/>
          <p:nvPr/>
        </p:nvSpPr>
        <p:spPr>
          <a:xfrm>
            <a:off x="822960" y="5245364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1499616" y="5245364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75" name="Text 72"/>
          <p:cNvSpPr/>
          <p:nvPr/>
        </p:nvSpPr>
        <p:spPr>
          <a:xfrm>
            <a:off x="1499616" y="5245364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  <p:sp>
        <p:nvSpPr>
          <p:cNvPr id="76" name="Shape 73"/>
          <p:cNvSpPr/>
          <p:nvPr/>
        </p:nvSpPr>
        <p:spPr>
          <a:xfrm>
            <a:off x="2176272" y="5245364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77" name="Text 74"/>
          <p:cNvSpPr/>
          <p:nvPr/>
        </p:nvSpPr>
        <p:spPr>
          <a:xfrm>
            <a:off x="2176272" y="5245364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  <p:sp>
        <p:nvSpPr>
          <p:cNvPr id="78" name="Shape 75"/>
          <p:cNvSpPr/>
          <p:nvPr/>
        </p:nvSpPr>
        <p:spPr>
          <a:xfrm>
            <a:off x="2852928" y="5245364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79" name="Text 76"/>
          <p:cNvSpPr/>
          <p:nvPr/>
        </p:nvSpPr>
        <p:spPr>
          <a:xfrm>
            <a:off x="2852928" y="5245364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3529584" y="5245364"/>
            <a:ext cx="621792" cy="341986"/>
          </a:xfrm>
          <a:prstGeom prst="roundRect">
            <a:avLst>
              <a:gd name="adj" fmla="val 13369"/>
            </a:avLst>
          </a:prstGeom>
          <a:solidFill>
            <a:srgbClr val="EFEBFB"/>
          </a:solidFill>
          <a:ln/>
        </p:spPr>
      </p:sp>
      <p:sp>
        <p:nvSpPr>
          <p:cNvPr id="81" name="Text 78"/>
          <p:cNvSpPr/>
          <p:nvPr/>
        </p:nvSpPr>
        <p:spPr>
          <a:xfrm>
            <a:off x="3529584" y="5245364"/>
            <a:ext cx="62179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5943600" y="1600200"/>
            <a:ext cx="5669280" cy="1024128"/>
          </a:xfrm>
          <a:prstGeom prst="roundRect">
            <a:avLst>
              <a:gd name="adj" fmla="val 8929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83" name="Shape 80"/>
          <p:cNvSpPr/>
          <p:nvPr/>
        </p:nvSpPr>
        <p:spPr>
          <a:xfrm>
            <a:off x="6163056" y="1819656"/>
            <a:ext cx="585216" cy="585216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84" name="Image 1" descr="/home/claude/vkdsa/icon-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212" y="1971812"/>
            <a:ext cx="280904" cy="280904"/>
          </a:xfrm>
          <a:prstGeom prst="rect">
            <a:avLst/>
          </a:prstGeom>
        </p:spPr>
      </p:pic>
      <p:sp>
        <p:nvSpPr>
          <p:cNvPr id="85" name="Text 81"/>
          <p:cNvSpPr/>
          <p:nvPr/>
        </p:nvSpPr>
        <p:spPr>
          <a:xfrm>
            <a:off x="6949440" y="172821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Search</a:t>
            </a:r>
            <a:endParaRPr lang="en-US" sz="1500" dirty="0"/>
          </a:p>
        </p:txBody>
      </p:sp>
      <p:sp>
        <p:nvSpPr>
          <p:cNvPr id="86" name="Text 82"/>
          <p:cNvSpPr/>
          <p:nvPr/>
        </p:nvSpPr>
        <p:spPr>
          <a:xfrm>
            <a:off x="6949440" y="209397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find any pattern or question.</a:t>
            </a:r>
            <a:endParaRPr lang="en-US" sz="1150" dirty="0"/>
          </a:p>
        </p:txBody>
      </p:sp>
      <p:sp>
        <p:nvSpPr>
          <p:cNvPr id="87" name="Shape 83"/>
          <p:cNvSpPr/>
          <p:nvPr/>
        </p:nvSpPr>
        <p:spPr>
          <a:xfrm>
            <a:off x="5943600" y="2770632"/>
            <a:ext cx="5669280" cy="1024128"/>
          </a:xfrm>
          <a:prstGeom prst="roundRect">
            <a:avLst>
              <a:gd name="adj" fmla="val 8929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88" name="Shape 84"/>
          <p:cNvSpPr/>
          <p:nvPr/>
        </p:nvSpPr>
        <p:spPr>
          <a:xfrm>
            <a:off x="6163056" y="2990088"/>
            <a:ext cx="585216" cy="585216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89" name="Image 2" descr="/home/claude/vkdsa/icon-book-op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212" y="3142244"/>
            <a:ext cx="280904" cy="280904"/>
          </a:xfrm>
          <a:prstGeom prst="rect">
            <a:avLst/>
          </a:prstGeom>
        </p:spPr>
      </p:pic>
      <p:sp>
        <p:nvSpPr>
          <p:cNvPr id="90" name="Text 85"/>
          <p:cNvSpPr/>
          <p:nvPr/>
        </p:nvSpPr>
        <p:spPr>
          <a:xfrm>
            <a:off x="6949440" y="28986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Books</a:t>
            </a:r>
            <a:endParaRPr lang="en-US" sz="1500" dirty="0"/>
          </a:p>
        </p:txBody>
      </p:sp>
      <p:sp>
        <p:nvSpPr>
          <p:cNvPr id="91" name="Text 86"/>
          <p:cNvSpPr/>
          <p:nvPr/>
        </p:nvSpPr>
        <p:spPr>
          <a:xfrm>
            <a:off x="6949440" y="32644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shelf for recommended reads plus your own favourites.</a:t>
            </a:r>
            <a:endParaRPr lang="en-US" sz="1150" dirty="0"/>
          </a:p>
        </p:txBody>
      </p:sp>
      <p:sp>
        <p:nvSpPr>
          <p:cNvPr id="92" name="Shape 87"/>
          <p:cNvSpPr/>
          <p:nvPr/>
        </p:nvSpPr>
        <p:spPr>
          <a:xfrm>
            <a:off x="5943600" y="3941064"/>
            <a:ext cx="5669280" cy="1024128"/>
          </a:xfrm>
          <a:prstGeom prst="roundRect">
            <a:avLst>
              <a:gd name="adj" fmla="val 8929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93" name="Shape 88"/>
          <p:cNvSpPr/>
          <p:nvPr/>
        </p:nvSpPr>
        <p:spPr>
          <a:xfrm>
            <a:off x="6163056" y="4160520"/>
            <a:ext cx="585216" cy="58521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94" name="Image 3" descr="/home/claude/vkdsa/icon-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5212" y="4312676"/>
            <a:ext cx="280904" cy="280904"/>
          </a:xfrm>
          <a:prstGeom prst="rect">
            <a:avLst/>
          </a:prstGeom>
        </p:spPr>
      </p:pic>
      <p:sp>
        <p:nvSpPr>
          <p:cNvPr id="95" name="Text 89"/>
          <p:cNvSpPr/>
          <p:nvPr/>
        </p:nvSpPr>
        <p:spPr>
          <a:xfrm>
            <a:off x="6949440" y="4069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Links</a:t>
            </a:r>
            <a:endParaRPr lang="en-US" sz="1500" dirty="0"/>
          </a:p>
        </p:txBody>
      </p:sp>
      <p:sp>
        <p:nvSpPr>
          <p:cNvPr id="96" name="Text 90"/>
          <p:cNvSpPr/>
          <p:nvPr/>
        </p:nvSpPr>
        <p:spPr>
          <a:xfrm>
            <a:off x="6949440" y="4434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YouTube videos, articles and editorials for later.</a:t>
            </a:r>
            <a:endParaRPr lang="en-US" sz="1150" dirty="0"/>
          </a:p>
        </p:txBody>
      </p:sp>
      <p:sp>
        <p:nvSpPr>
          <p:cNvPr id="97" name="Shape 91"/>
          <p:cNvSpPr/>
          <p:nvPr/>
        </p:nvSpPr>
        <p:spPr>
          <a:xfrm>
            <a:off x="5943600" y="5111496"/>
            <a:ext cx="5669280" cy="1024128"/>
          </a:xfrm>
          <a:prstGeom prst="roundRect">
            <a:avLst>
              <a:gd name="adj" fmla="val 8929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98" name="Shape 92"/>
          <p:cNvSpPr/>
          <p:nvPr/>
        </p:nvSpPr>
        <p:spPr>
          <a:xfrm>
            <a:off x="6163056" y="5330952"/>
            <a:ext cx="585216" cy="58521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99" name="Image 4" descr="/home/claude/vkdsa/icon-ed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5212" y="5483108"/>
            <a:ext cx="280904" cy="280904"/>
          </a:xfrm>
          <a:prstGeom prst="rect">
            <a:avLst/>
          </a:prstGeom>
        </p:spPr>
      </p:pic>
      <p:sp>
        <p:nvSpPr>
          <p:cNvPr id="100" name="Text 93"/>
          <p:cNvSpPr/>
          <p:nvPr/>
        </p:nvSpPr>
        <p:spPr>
          <a:xfrm>
            <a:off x="6949440" y="52395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1500" dirty="0"/>
          </a:p>
        </p:txBody>
      </p:sp>
      <p:sp>
        <p:nvSpPr>
          <p:cNvPr id="101" name="Text 94"/>
          <p:cNvSpPr/>
          <p:nvPr/>
        </p:nvSpPr>
        <p:spPr>
          <a:xfrm>
            <a:off x="6949440" y="560527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personal notes against any topic or problem.</a:t>
            </a:r>
            <a:endParaRPr lang="en-US" sz="1150" dirty="0"/>
          </a:p>
        </p:txBody>
      </p:sp>
      <p:sp>
        <p:nvSpPr>
          <p:cNvPr id="102" name="Text 9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 DSA SHEET</a:t>
            </a:r>
            <a:endParaRPr lang="en-US" sz="900" dirty="0"/>
          </a:p>
        </p:txBody>
      </p:sp>
      <p:sp>
        <p:nvSpPr>
          <p:cNvPr id="103" name="Text 9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4572000"/>
            <a:ext cx="5303520" cy="5303520"/>
          </a:xfrm>
          <a:prstGeom prst="ellipse">
            <a:avLst/>
          </a:prstGeom>
          <a:solidFill>
            <a:srgbClr val="A78BFA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754880"/>
            <a:ext cx="5120640" cy="5120640"/>
          </a:xfrm>
          <a:prstGeom prst="ellipse">
            <a:avLst/>
          </a:prstGeom>
          <a:solidFill>
            <a:srgbClr val="06B6D4">
              <a:alpha val="1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754880" y="-2926080"/>
            <a:ext cx="4572000" cy="45720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dashboard, live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1247120" cy="5478535"/>
          </a:xfrm>
          <a:prstGeom prst="roundRect">
            <a:avLst>
              <a:gd name="adj" fmla="val 1669"/>
            </a:avLst>
          </a:prstGeom>
          <a:solidFill>
            <a:srgbClr val="FFFFFF"/>
          </a:solidFill>
          <a:ln w="19050">
            <a:solidFill>
              <a:srgbClr val="E7E3F6"/>
            </a:solidFill>
            <a:prstDash val="solid"/>
          </a:ln>
          <a:effectLst>
            <a:outerShdw blurRad="177800" dist="50800" dir="5400000" algn="bl" rotWithShape="0">
              <a:srgbClr val="B9AEE8">
                <a:alpha val="40000"/>
              </a:srgbClr>
            </a:outerShdw>
          </a:effectLst>
        </p:spPr>
      </p:sp>
      <p:pic>
        <p:nvPicPr>
          <p:cNvPr id="8" name="Image 0" descr="/mnt/user-data/uploads/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11064240" cy="529565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 DSA SHEET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2377440"/>
            <a:ext cx="5120640" cy="512064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-2011680"/>
            <a:ext cx="4572000" cy="4572000"/>
          </a:xfrm>
          <a:prstGeom prst="ellipse">
            <a:avLst/>
          </a:prstGeom>
          <a:solidFill>
            <a:srgbClr val="A78BF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5120640"/>
            <a:ext cx="4206240" cy="420624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0" y="4937760"/>
            <a:ext cx="3840480" cy="3840480"/>
          </a:xfrm>
          <a:prstGeom prst="ellipse">
            <a:avLst/>
          </a:prstGeom>
          <a:solidFill>
            <a:srgbClr val="EC4899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Built lean, ships fast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6384" y="2011680"/>
            <a:ext cx="566928" cy="566928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0" name="Image 0" descr="/home/claude/vkdsa/icon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785" y="2159081"/>
            <a:ext cx="272125" cy="27212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198424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React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54480" y="240487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UI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5112" y="169164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62856" y="2011680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5" name="Image 1" descr="/home/claude/vkdsa/icon-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257" y="2159081"/>
            <a:ext cx="272125" cy="27212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30952" y="198424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Firebase Auth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330952" y="240487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01584" y="169164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39328" y="2011680"/>
            <a:ext cx="566928" cy="566928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20" name="Image 2" descr="/home/claude/vkdsa/icon-z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729" y="2159081"/>
            <a:ext cx="272125" cy="2721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07424" y="198424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Cloud Firestore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9107424" y="240487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48640" y="3456432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4" name="Shape 19"/>
          <p:cNvSpPr/>
          <p:nvPr/>
        </p:nvSpPr>
        <p:spPr>
          <a:xfrm>
            <a:off x="786384" y="3776472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5" name="Image 3" descr="/home/claude/vkdsa/icon-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785" y="3923873"/>
            <a:ext cx="272125" cy="27212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54480" y="3749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React Router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1554480" y="4169664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routing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325112" y="3456432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62856" y="3776472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0" name="Image 4" descr="/home/claude/vkdsa/icon-st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0257" y="3923873"/>
            <a:ext cx="272125" cy="27212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30952" y="3749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Custom CSS3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5330952" y="4169664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 + motion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8101584" y="3456432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339328" y="3776472"/>
            <a:ext cx="566928" cy="566928"/>
          </a:xfrm>
          <a:prstGeom prst="ellipse">
            <a:avLst/>
          </a:prstGeom>
          <a:solidFill>
            <a:srgbClr val="1E1B36"/>
          </a:solidFill>
          <a:ln/>
        </p:spPr>
      </p:sp>
      <p:pic>
        <p:nvPicPr>
          <p:cNvPr id="35" name="Image 5" descr="/home/claude/vkdsa/icon-trend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6729" y="3923873"/>
            <a:ext cx="272125" cy="272125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107424" y="3749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Vercel</a:t>
            </a:r>
            <a:endParaRPr lang="en-US" sz="1500" dirty="0"/>
          </a:p>
        </p:txBody>
      </p:sp>
      <p:sp>
        <p:nvSpPr>
          <p:cNvPr id="37" name="Text 29"/>
          <p:cNvSpPr/>
          <p:nvPr/>
        </p:nvSpPr>
        <p:spPr>
          <a:xfrm>
            <a:off x="9107424" y="4169664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 DSA SHEET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A78BFA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65760"/>
            <a:ext cx="3291840" cy="329184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846320"/>
            <a:ext cx="5120640" cy="512064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6035040"/>
            <a:ext cx="2743200" cy="2743200"/>
          </a:xfrm>
          <a:prstGeom prst="ellipse">
            <a:avLst/>
          </a:prstGeom>
          <a:solidFill>
            <a:srgbClr val="EC4899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first visit to daily habit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552651" y="2331720"/>
            <a:ext cx="9056218" cy="0"/>
          </a:xfrm>
          <a:prstGeom prst="line">
            <a:avLst/>
          </a:prstGeom>
          <a:noFill/>
          <a:ln w="25400">
            <a:solidFill>
              <a:srgbClr val="E7E3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42339" y="2121408"/>
            <a:ext cx="420624" cy="420624"/>
          </a:xfrm>
          <a:prstGeom prst="ellipse">
            <a:avLst/>
          </a:prstGeom>
          <a:solidFill>
            <a:srgbClr val="7C3AED"/>
          </a:solidFill>
          <a:ln w="381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B9AEE8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42339" y="2121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52651" y="2542032"/>
            <a:ext cx="0" cy="155448"/>
          </a:xfrm>
          <a:prstGeom prst="line">
            <a:avLst/>
          </a:prstGeom>
          <a:noFill/>
          <a:ln w="19050">
            <a:solidFill>
              <a:srgbClr val="E7E3F6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48640" y="2697480"/>
            <a:ext cx="2008022" cy="3246120"/>
          </a:xfrm>
          <a:prstGeom prst="roundRect">
            <a:avLst>
              <a:gd name="adj" fmla="val 4554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89864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4" name="Image 0" descr="/home/claude/vkdsa/icon-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017520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31520" y="3502152"/>
            <a:ext cx="164226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Browse Freely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31520" y="4114800"/>
            <a:ext cx="164226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every pattern with no login required.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06394" y="2121408"/>
            <a:ext cx="420624" cy="420624"/>
          </a:xfrm>
          <a:prstGeom prst="ellipse">
            <a:avLst/>
          </a:prstGeom>
          <a:solidFill>
            <a:srgbClr val="06B6D4"/>
          </a:solidFill>
          <a:ln w="381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B9AEE8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606394" y="2121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816706" y="2542032"/>
            <a:ext cx="0" cy="155448"/>
          </a:xfrm>
          <a:prstGeom prst="line">
            <a:avLst/>
          </a:prstGeom>
          <a:noFill/>
          <a:ln w="19050">
            <a:solidFill>
              <a:srgbClr val="E7E3F6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2812694" y="2697480"/>
            <a:ext cx="2008022" cy="3246120"/>
          </a:xfrm>
          <a:prstGeom prst="roundRect">
            <a:avLst>
              <a:gd name="adj" fmla="val 4554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995574" y="2898648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22" name="Image 1" descr="/home/claude/vkdsa/icon-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446" y="3017520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995574" y="3502152"/>
            <a:ext cx="164226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Sign Up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2995574" y="4114800"/>
            <a:ext cx="164226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 in a couple of clicks.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870448" y="2121408"/>
            <a:ext cx="420624" cy="420624"/>
          </a:xfrm>
          <a:prstGeom prst="ellipse">
            <a:avLst/>
          </a:prstGeom>
          <a:solidFill>
            <a:srgbClr val="EC4899"/>
          </a:solidFill>
          <a:ln w="381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B9AEE8">
                <a:alpha val="40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5870448" y="2121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080760" y="2542032"/>
            <a:ext cx="0" cy="155448"/>
          </a:xfrm>
          <a:prstGeom prst="line">
            <a:avLst/>
          </a:prstGeom>
          <a:noFill/>
          <a:ln w="19050">
            <a:solidFill>
              <a:srgbClr val="E7E3F6"/>
            </a:solidFill>
            <a:prstDash val="dash"/>
          </a:ln>
        </p:spPr>
      </p:sp>
      <p:sp>
        <p:nvSpPr>
          <p:cNvPr id="28" name="Shape 24"/>
          <p:cNvSpPr/>
          <p:nvPr/>
        </p:nvSpPr>
        <p:spPr>
          <a:xfrm>
            <a:off x="5076749" y="2697480"/>
            <a:ext cx="2008022" cy="3246120"/>
          </a:xfrm>
          <a:prstGeom prst="roundRect">
            <a:avLst>
              <a:gd name="adj" fmla="val 4554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259629" y="2898648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30" name="Image 2" descr="/home/claude/vkdsa/icon-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8501" y="3017520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259629" y="3502152"/>
            <a:ext cx="164226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Pick A Pattern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5259629" y="4114800"/>
            <a:ext cx="164226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sub-patterns and platform-sourced questions.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8134502" y="2121408"/>
            <a:ext cx="420624" cy="420624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B9AEE8">
                <a:alpha val="40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8134502" y="2121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8344814" y="2542032"/>
            <a:ext cx="0" cy="155448"/>
          </a:xfrm>
          <a:prstGeom prst="line">
            <a:avLst/>
          </a:prstGeom>
          <a:noFill/>
          <a:ln w="19050">
            <a:solidFill>
              <a:srgbClr val="E7E3F6"/>
            </a:solidFill>
            <a:prstDash val="dash"/>
          </a:ln>
        </p:spPr>
      </p:sp>
      <p:sp>
        <p:nvSpPr>
          <p:cNvPr id="36" name="Shape 31"/>
          <p:cNvSpPr/>
          <p:nvPr/>
        </p:nvSpPr>
        <p:spPr>
          <a:xfrm>
            <a:off x="7340803" y="2697480"/>
            <a:ext cx="2008022" cy="3246120"/>
          </a:xfrm>
          <a:prstGeom prst="roundRect">
            <a:avLst>
              <a:gd name="adj" fmla="val 4554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7523683" y="289864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8" name="Image 3" descr="/home/claude/vkdsa/icon-check-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2555" y="3017520"/>
            <a:ext cx="219456" cy="219456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523683" y="3502152"/>
            <a:ext cx="164226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Track Progress</a:t>
            </a:r>
            <a:endParaRPr lang="en-US" sz="1350" dirty="0"/>
          </a:p>
        </p:txBody>
      </p:sp>
      <p:sp>
        <p:nvSpPr>
          <p:cNvPr id="40" name="Text 34"/>
          <p:cNvSpPr/>
          <p:nvPr/>
        </p:nvSpPr>
        <p:spPr>
          <a:xfrm>
            <a:off x="7523683" y="4114800"/>
            <a:ext cx="164226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Complete or Revise; synced live to Firestore.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10398557" y="2121408"/>
            <a:ext cx="420624" cy="420624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B9AEE8">
                <a:alpha val="40000"/>
              </a:srgbClr>
            </a:outerShdw>
          </a:effectLst>
        </p:spPr>
      </p:sp>
      <p:sp>
        <p:nvSpPr>
          <p:cNvPr id="42" name="Text 36"/>
          <p:cNvSpPr/>
          <p:nvPr/>
        </p:nvSpPr>
        <p:spPr>
          <a:xfrm>
            <a:off x="10398557" y="2121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10608869" y="2542032"/>
            <a:ext cx="0" cy="155448"/>
          </a:xfrm>
          <a:prstGeom prst="line">
            <a:avLst/>
          </a:prstGeom>
          <a:noFill/>
          <a:ln w="19050">
            <a:solidFill>
              <a:srgbClr val="E7E3F6"/>
            </a:solidFill>
            <a:prstDash val="dash"/>
          </a:ln>
        </p:spPr>
      </p:sp>
      <p:sp>
        <p:nvSpPr>
          <p:cNvPr id="44" name="Shape 38"/>
          <p:cNvSpPr/>
          <p:nvPr/>
        </p:nvSpPr>
        <p:spPr>
          <a:xfrm>
            <a:off x="9604858" y="2697480"/>
            <a:ext cx="2008022" cy="3246120"/>
          </a:xfrm>
          <a:prstGeom prst="roundRect">
            <a:avLst>
              <a:gd name="adj" fmla="val 4554"/>
            </a:avLst>
          </a:prstGeom>
          <a:solidFill>
            <a:srgbClr val="FAF9FF"/>
          </a:solidFill>
          <a:ln w="12700">
            <a:solidFill>
              <a:srgbClr val="E7E3F6"/>
            </a:solidFill>
            <a:prstDash val="solid"/>
          </a:ln>
          <a:effectLst>
            <a:outerShdw blurRad="101600" dist="38100" dir="5400000" algn="bl" rotWithShape="0">
              <a:srgbClr val="B9AEE8">
                <a:alpha val="35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9787738" y="289864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46" name="Image 4" descr="/home/claude/vkdsa/icon-aw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610" y="3017520"/>
            <a:ext cx="219456" cy="219456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9787738" y="3502152"/>
            <a:ext cx="164226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 The Habit</a:t>
            </a:r>
            <a:endParaRPr lang="en-US" sz="1350" dirty="0"/>
          </a:p>
        </p:txBody>
      </p:sp>
      <p:sp>
        <p:nvSpPr>
          <p:cNvPr id="48" name="Text 41"/>
          <p:cNvSpPr/>
          <p:nvPr/>
        </p:nvSpPr>
        <p:spPr>
          <a:xfrm>
            <a:off x="9787738" y="4114800"/>
            <a:ext cx="164226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Calendar, notes, books and links keep you coming back.</a:t>
            </a:r>
            <a:endParaRPr lang="en-US" sz="1050" dirty="0"/>
          </a:p>
        </p:txBody>
      </p:sp>
      <p:sp>
        <p:nvSpPr>
          <p:cNvPr id="49" name="Text 4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 DSA SHEET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377440"/>
            <a:ext cx="5852160" cy="5852160"/>
          </a:xfrm>
          <a:prstGeom prst="ellipse">
            <a:avLst/>
          </a:prstGeom>
          <a:solidFill>
            <a:srgbClr val="06B6D4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EC489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4206240"/>
            <a:ext cx="5486400" cy="5486400"/>
          </a:xfrm>
          <a:prstGeom prst="ellipse">
            <a:avLst/>
          </a:prstGeom>
          <a:solidFill>
            <a:srgbClr val="A78BFA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5120640"/>
            <a:ext cx="2743200" cy="274320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DIFFERENT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sheet, every advantage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11064240" cy="4169664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12700">
            <a:solidFill>
              <a:srgbClr val="E7E3F6"/>
            </a:solidFill>
            <a:prstDash val="solid"/>
          </a:ln>
          <a:effectLst>
            <a:outerShdw blurRad="127000" dist="38100" dir="5400000" algn="bl" rotWithShape="0">
              <a:srgbClr val="B9AEE8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00200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F1ED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00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749040" y="16002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40680" y="16002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TUF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32320" y="16002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23960" y="16002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NeetCode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515600" y="1600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 DSA Sheet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057400"/>
            <a:ext cx="11064240" cy="530352"/>
          </a:xfrm>
          <a:prstGeom prst="rect">
            <a:avLst/>
          </a:prstGeom>
          <a:solidFill>
            <a:srgbClr val="F8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057400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Pattern-wise roadmap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749040" y="205740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680" y="205740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only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0" y="205740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205740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only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0" y="205740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2587752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questions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749040" y="2587752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2587752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0" y="2587752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823960" y="2587752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0" y="2587752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3118104"/>
            <a:ext cx="11064240" cy="530352"/>
          </a:xfrm>
          <a:prstGeom prst="rect">
            <a:avLst/>
          </a:prstGeom>
          <a:solidFill>
            <a:srgbClr val="F8F6FF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118104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749040" y="3118104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40680" y="3118104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3118104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23960" y="3118104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515600" y="3118104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" y="3648456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tracking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749040" y="3648456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40680" y="3648456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32320" y="3648456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823960" y="3648456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515600" y="3648456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8640" y="4178808"/>
            <a:ext cx="11064240" cy="530352"/>
          </a:xfrm>
          <a:prstGeom prst="rect">
            <a:avLst/>
          </a:prstGeom>
          <a:solidFill>
            <a:srgbClr val="F8F6FF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4178808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calendar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749040" y="4178808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40680" y="4178808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32320" y="4178808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823960" y="4178808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515600" y="417880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85800" y="4709160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notes &amp; books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3749040" y="470916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40680" y="470916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132320" y="470916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823960" y="470916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0515600" y="470916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48640" y="5239512"/>
            <a:ext cx="11064240" cy="530352"/>
          </a:xfrm>
          <a:prstGeom prst="rect">
            <a:avLst/>
          </a:prstGeom>
          <a:solidFill>
            <a:srgbClr val="F8F6FF"/>
          </a:solidFill>
          <a:ln/>
        </p:spPr>
      </p:sp>
      <p:sp>
        <p:nvSpPr>
          <p:cNvPr id="56" name="Text 54"/>
          <p:cNvSpPr/>
          <p:nvPr/>
        </p:nvSpPr>
        <p:spPr>
          <a:xfrm>
            <a:off x="685800" y="5239512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free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3749040" y="5239512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440680" y="5239512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132320" y="5239512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823960" y="5239512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515600" y="5239512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 DSA SHEET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4572000"/>
            <a:ext cx="5303520" cy="5303520"/>
          </a:xfrm>
          <a:prstGeom prst="ellipse">
            <a:avLst/>
          </a:prstGeom>
          <a:solidFill>
            <a:srgbClr val="A78BFA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754880"/>
            <a:ext cx="5120640" cy="5120640"/>
          </a:xfrm>
          <a:prstGeom prst="ellipse">
            <a:avLst/>
          </a:prstGeom>
          <a:solidFill>
            <a:srgbClr val="06B6D4">
              <a:alpha val="1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754880" y="-2926080"/>
            <a:ext cx="4572000" cy="45720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WHEN YOU ARE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Stop juggling tabs.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1E1B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Start solving by pattern.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94360" y="3566160"/>
            <a:ext cx="3291840" cy="5486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  <a:effectLst>
            <a:outerShdw blurRad="101600" dist="25400" dir="5400000" algn="bl" rotWithShape="0">
              <a:srgbClr val="C9B8F5">
                <a:alpha val="5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594360" y="3566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50" dirty="0">
                <a:solidFill>
                  <a:schemeClr val="bg1">
                    <a:lumMod val="95000"/>
                  </a:schemeClr>
                </a:solidFill>
              </a:rPr>
              <a:t>https://vk-dsa-sheet-aw7j.vercel.app/</a:t>
            </a:r>
          </a:p>
        </p:txBody>
      </p:sp>
      <p:sp>
        <p:nvSpPr>
          <p:cNvPr id="9" name="Text 7"/>
          <p:cNvSpPr/>
          <p:nvPr/>
        </p:nvSpPr>
        <p:spPr>
          <a:xfrm>
            <a:off x="594360" y="44805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C3AE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94360" y="5120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Categories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71800" y="44805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B6D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971800" y="5120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United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49240" y="44805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C489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349240" y="5120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 Source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5943600"/>
            <a:ext cx="10972800" cy="0"/>
          </a:xfrm>
          <a:prstGeom prst="line">
            <a:avLst/>
          </a:prstGeom>
          <a:noFill/>
          <a:ln w="12700">
            <a:solidFill>
              <a:srgbClr val="E7E3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6080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Ajnabh Koushik Baruah</a:t>
            </a:r>
            <a:r>
              <a:rPr lang="en-US" sz="1150" dirty="0">
                <a:solidFill>
                  <a:srgbClr val="5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✉  ajnabhb.ug24.cs@nitp.ac.in     ⌘  github.com/AJNABH-KOUSHIK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 DSA SHEET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762</Words>
  <Application>Microsoft Office PowerPoint</Application>
  <PresentationFormat>Widescreen</PresentationFormat>
  <Paragraphs>256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AJNABH KOUSHIK</cp:lastModifiedBy>
  <cp:revision>2</cp:revision>
  <dcterms:created xsi:type="dcterms:W3CDTF">2026-07-11T15:41:47Z</dcterms:created>
  <dcterms:modified xsi:type="dcterms:W3CDTF">2026-07-11T16:18:30Z</dcterms:modified>
</cp:coreProperties>
</file>